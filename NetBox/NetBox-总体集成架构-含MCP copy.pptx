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768096"/>
            <a:ext cx="11192256" cy="0"/>
          </a:xfrm>
          <a:prstGeom prst="line">
            <a:avLst/>
          </a:prstGeom>
          <a:ln w="7620">
            <a:solidFill>
              <a:srgbClr val="132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93776" y="932688"/>
            <a:ext cx="11192256" cy="0"/>
          </a:xfrm>
          <a:prstGeom prst="line">
            <a:avLst/>
          </a:prstGeom>
          <a:ln w="7620">
            <a:solidFill>
              <a:srgbClr val="132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93776" y="6272784"/>
            <a:ext cx="11192256" cy="0"/>
          </a:xfrm>
          <a:prstGeom prst="line">
            <a:avLst/>
          </a:prstGeom>
          <a:ln w="7620">
            <a:solidFill>
              <a:srgbClr val="132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" y="768096"/>
            <a:ext cx="0" cy="5504688"/>
          </a:xfrm>
          <a:prstGeom prst="line">
            <a:avLst/>
          </a:prstGeom>
          <a:ln w="7620">
            <a:solidFill>
              <a:srgbClr val="132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86032" y="768096"/>
            <a:ext cx="0" cy="5504688"/>
          </a:xfrm>
          <a:prstGeom prst="line">
            <a:avLst/>
          </a:prstGeom>
          <a:ln w="7620">
            <a:solidFill>
              <a:srgbClr val="132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22860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0" b="1">
                <a:solidFill>
                  <a:srgbClr val="5DD6C1"/>
                </a:solidFill>
                <a:latin typeface="PingFang SC" panose="020B0400000000000000" charset="-122"/>
              </a:rPr>
              <a:t>NETBOX INTEGRATION BLUEPRINT / 2026</a:t>
            </a:r>
            <a:endParaRPr sz="820" b="1">
              <a:solidFill>
                <a:srgbClr val="5DD6C1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" y="438912"/>
            <a:ext cx="7498079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>
                <a:solidFill>
                  <a:srgbClr val="F5F8F7"/>
                </a:solidFill>
                <a:latin typeface="PingFang SC" panose="020B0400000000000000" charset="-122"/>
              </a:rPr>
              <a:t>总体集成架构</a:t>
            </a:r>
            <a:endParaRPr sz="250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9248" y="420624"/>
            <a:ext cx="39502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30" b="0">
                <a:solidFill>
                  <a:srgbClr val="A9BBC1"/>
                </a:solidFill>
                <a:latin typeface="PingFang SC" panose="020B0400000000000000" charset="-122"/>
              </a:rPr>
              <a:t>NetBox × Containerlab × NetBrain × Tenable + MCP</a:t>
            </a:r>
            <a:endParaRPr sz="10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108192" y="1481328"/>
            <a:ext cx="0" cy="219456"/>
          </a:xfrm>
          <a:prstGeom prst="line">
            <a:avLst/>
          </a:prstGeom>
          <a:ln w="20320">
            <a:solidFill>
              <a:srgbClr val="5DD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1527048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0" b="0">
                <a:solidFill>
                  <a:srgbClr val="5DD6C1"/>
                </a:solidFill>
                <a:latin typeface="PingFang SC" panose="020B0400000000000000" charset="-122"/>
              </a:rPr>
              <a:t>MCP</a:t>
            </a:r>
            <a:endParaRPr sz="820" b="0">
              <a:solidFill>
                <a:srgbClr val="5DD6C1"/>
              </a:solidFill>
              <a:latin typeface="PingFang SC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08192" y="2295144"/>
            <a:ext cx="0" cy="374904"/>
          </a:xfrm>
          <a:prstGeom prst="line">
            <a:avLst/>
          </a:prstGeom>
          <a:ln w="20320">
            <a:solidFill>
              <a:srgbClr val="5DD6C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36792" y="2395728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80" b="0">
                <a:solidFill>
                  <a:srgbClr val="5DD6C1"/>
                </a:solidFill>
                <a:latin typeface="PingFang SC" panose="020B0400000000000000" charset="-122"/>
              </a:rPr>
              <a:t>NetBox REST / GraphQL</a:t>
            </a:r>
            <a:endParaRPr sz="780" b="0">
              <a:solidFill>
                <a:srgbClr val="5DD6C1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340102" y="3172968"/>
            <a:ext cx="366395" cy="0"/>
          </a:xfrm>
          <a:prstGeom prst="line">
            <a:avLst/>
          </a:prstGeom>
          <a:ln w="18415">
            <a:solidFill>
              <a:srgbClr val="F3C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706624" y="2331720"/>
            <a:ext cx="0" cy="841248"/>
          </a:xfrm>
          <a:prstGeom prst="line">
            <a:avLst/>
          </a:prstGeom>
          <a:ln w="18415">
            <a:solidFill>
              <a:srgbClr val="F3C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6624" y="2331720"/>
            <a:ext cx="2560320" cy="0"/>
          </a:xfrm>
          <a:prstGeom prst="line">
            <a:avLst/>
          </a:prstGeom>
          <a:ln w="18415">
            <a:solidFill>
              <a:srgbClr val="F3C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66944" y="2331720"/>
            <a:ext cx="0" cy="841248"/>
          </a:xfrm>
          <a:prstGeom prst="line">
            <a:avLst/>
          </a:prstGeom>
          <a:ln w="18415">
            <a:solidFill>
              <a:srgbClr val="F3C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66944" y="3172968"/>
            <a:ext cx="164592" cy="0"/>
          </a:xfrm>
          <a:prstGeom prst="line">
            <a:avLst/>
          </a:prstGeom>
          <a:ln w="18415">
            <a:solidFill>
              <a:srgbClr val="F3C6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52928" y="2103120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F3C65B"/>
                </a:solidFill>
                <a:latin typeface="PingFang SC" panose="020B0400000000000000" charset="-122"/>
              </a:rPr>
              <a:t>CI/CD</a:t>
            </a:r>
            <a:endParaRPr sz="780" b="0">
              <a:solidFill>
                <a:srgbClr val="F3C65B"/>
              </a:solidFill>
              <a:latin typeface="PingFang SC" panose="020B0400000000000000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699248" y="3172968"/>
            <a:ext cx="283464" cy="0"/>
          </a:xfrm>
          <a:prstGeom prst="line">
            <a:avLst/>
          </a:prstGeom>
          <a:ln w="18415">
            <a:solidFill>
              <a:srgbClr val="F29B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37376" y="2450592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00" b="0">
                <a:solidFill>
                  <a:srgbClr val="A9BBC1"/>
                </a:solidFill>
                <a:latin typeface="PingFang SC" panose="020B0400000000000000" charset="-122"/>
              </a:rPr>
              <a:t>inspect JSON、拓扑导出</a:t>
            </a:r>
            <a:endParaRPr sz="70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2542032" y="2953512"/>
            <a:ext cx="347472" cy="0"/>
          </a:xfrm>
          <a:prstGeom prst="line">
            <a:avLst/>
          </a:prstGeom>
          <a:ln w="14604">
            <a:solidFill>
              <a:srgbClr val="7FB5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53312" y="2450592"/>
            <a:ext cx="173736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00" b="0">
                <a:solidFill>
                  <a:srgbClr val="A9BBC1"/>
                </a:solidFill>
                <a:latin typeface="PingFang SC" panose="020B0400000000000000" charset="-122"/>
              </a:rPr>
              <a:t>生成拓扑或设备清单</a:t>
            </a:r>
            <a:endParaRPr sz="70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217152" y="3776472"/>
            <a:ext cx="0" cy="356615"/>
          </a:xfrm>
          <a:prstGeom prst="line">
            <a:avLst/>
          </a:prstGeom>
          <a:ln w="15875">
            <a:solidFill>
              <a:srgbClr val="F29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95928" y="4133087"/>
            <a:ext cx="5221224" cy="0"/>
          </a:xfrm>
          <a:prstGeom prst="line">
            <a:avLst/>
          </a:prstGeom>
          <a:ln w="15875">
            <a:solidFill>
              <a:srgbClr val="F29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95928" y="3776472"/>
            <a:ext cx="0" cy="356615"/>
          </a:xfrm>
          <a:prstGeom prst="line">
            <a:avLst/>
          </a:prstGeom>
          <a:ln w="15875">
            <a:solidFill>
              <a:srgbClr val="F29B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73695" y="3861435"/>
            <a:ext cx="1108075" cy="2012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/>
            <a:r>
              <a:rPr sz="700" b="0">
                <a:solidFill>
                  <a:srgbClr val="A9BBC1"/>
                </a:solidFill>
                <a:latin typeface="PingFang SC" panose="020B0400000000000000" charset="-122"/>
              </a:rPr>
              <a:t>测试环境资产清单</a:t>
            </a:r>
            <a:endParaRPr sz="70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3995928" y="3776472"/>
            <a:ext cx="0" cy="813816"/>
          </a:xfrm>
          <a:prstGeom prst="line">
            <a:avLst/>
          </a:prstGeom>
          <a:ln w="17145">
            <a:solidFill>
              <a:srgbClr val="7FB5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98064" y="4059936"/>
            <a:ext cx="1298448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0">
                <a:solidFill>
                  <a:srgbClr val="A9BBC1"/>
                </a:solidFill>
                <a:latin typeface="PingFang SC" panose="020B0400000000000000" charset="-122"/>
              </a:rPr>
              <a:t>NetBox API 同步静态元数据</a:t>
            </a:r>
            <a:endParaRPr sz="67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800600" y="3776472"/>
            <a:ext cx="1344168" cy="813816"/>
          </a:xfrm>
          <a:prstGeom prst="line">
            <a:avLst/>
          </a:prstGeom>
          <a:ln w="14604">
            <a:solidFill>
              <a:srgbClr val="7FB5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56048" y="4050791"/>
            <a:ext cx="14630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0">
                <a:solidFill>
                  <a:srgbClr val="A9BBC1"/>
                </a:solidFill>
                <a:latin typeface="PingFang SC" panose="020B0400000000000000" charset="-122"/>
              </a:rPr>
              <a:t>授权扫描目标和上下文</a:t>
            </a:r>
            <a:endParaRPr sz="67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956048" y="5020056"/>
            <a:ext cx="2706624" cy="0"/>
          </a:xfrm>
          <a:prstGeom prst="line">
            <a:avLst/>
          </a:prstGeom>
          <a:ln w="17145">
            <a:solidFill>
              <a:srgbClr val="EE8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07024" y="4279392"/>
            <a:ext cx="1481328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0">
                <a:solidFill>
                  <a:srgbClr val="A9BBC1"/>
                </a:solidFill>
                <a:latin typeface="PingFang SC" panose="020B0400000000000000" charset="-122"/>
              </a:rPr>
              <a:t>实时网络状态和诊断</a:t>
            </a:r>
            <a:endParaRPr sz="67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4626864" y="3776472"/>
            <a:ext cx="2633472" cy="1005840"/>
          </a:xfrm>
          <a:prstGeom prst="line">
            <a:avLst/>
          </a:prstGeom>
          <a:ln w="14604">
            <a:solidFill>
              <a:srgbClr val="EE8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46386" y="3941572"/>
            <a:ext cx="1847088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0">
                <a:solidFill>
                  <a:srgbClr val="A9BBC1"/>
                </a:solidFill>
                <a:latin typeface="PingFang SC" panose="020B0400000000000000" charset="-122"/>
              </a:rPr>
              <a:t>风险摘要、外部链接、修复状态</a:t>
            </a:r>
            <a:endParaRPr sz="67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7699248" y="5230368"/>
            <a:ext cx="274320" cy="0"/>
          </a:xfrm>
          <a:prstGeom prst="line">
            <a:avLst/>
          </a:prstGeom>
          <a:ln w="17145">
            <a:solidFill>
              <a:srgbClr val="EE8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88352" y="5294376"/>
            <a:ext cx="1481328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670" b="0">
                <a:solidFill>
                  <a:srgbClr val="A9BBC1"/>
                </a:solidFill>
                <a:latin typeface="PingFang SC" panose="020B0400000000000000" charset="-122"/>
              </a:rPr>
              <a:t>漏洞工单和修复任务</a:t>
            </a:r>
            <a:endParaRPr sz="67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645152" y="914400"/>
            <a:ext cx="2926080" cy="566928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F3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09744" y="1078992"/>
            <a:ext cx="402336" cy="402336"/>
          </a:xfrm>
          <a:prstGeom prst="ellipse">
            <a:avLst/>
          </a:prstGeom>
          <a:solidFill>
            <a:srgbClr val="F3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9744" y="108356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AI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21808" y="1033271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F5F8F7"/>
                </a:solidFill>
                <a:latin typeface="PingFang SC" panose="020B0400000000000000" charset="-122"/>
              </a:rPr>
              <a:t>AI / 自动化客户端</a:t>
            </a:r>
            <a:endParaRPr sz="132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21808" y="1389888"/>
            <a:ext cx="2121408" cy="18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Agent、脚本、工作流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645152" y="1700784"/>
            <a:ext cx="2926080" cy="621792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5D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09744" y="1865376"/>
            <a:ext cx="402336" cy="402336"/>
          </a:xfrm>
          <a:prstGeom prst="ellipse">
            <a:avLst/>
          </a:prstGeom>
          <a:solidFill>
            <a:srgbClr val="5DD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9744" y="186994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M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21808" y="1819656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F5F8F7"/>
                </a:solidFill>
                <a:latin typeface="PingFang SC" panose="020B0400000000000000" charset="-122"/>
              </a:rPr>
              <a:t>NetBox MCP Server</a:t>
            </a:r>
            <a:endParaRPr sz="132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21808" y="2194560"/>
            <a:ext cx="2121408" cy="36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面向 NetBox 的 tools / resources / prompts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64998" y="2783840"/>
            <a:ext cx="1975104" cy="1042415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F3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2907792"/>
            <a:ext cx="402336" cy="402336"/>
          </a:xfrm>
          <a:prstGeom prst="ellipse">
            <a:avLst/>
          </a:prstGeom>
          <a:solidFill>
            <a:srgbClr val="F3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291236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G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43584" y="2862072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5F8F7"/>
                </a:solidFill>
                <a:latin typeface="PingFang SC" panose="020B0400000000000000" charset="-122"/>
              </a:rPr>
              <a:t>Git</a:t>
            </a:r>
            <a:endParaRPr sz="14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43330" y="3237230"/>
            <a:ext cx="847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Containerlab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拓扑与模板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852928" y="2743200"/>
            <a:ext cx="2286000" cy="1042415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7FB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17520" y="2907792"/>
            <a:ext cx="402336" cy="402336"/>
          </a:xfrm>
          <a:prstGeom prst="ellipse">
            <a:avLst/>
          </a:prstGeom>
          <a:solidFill>
            <a:srgbClr val="7FB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291236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N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29584" y="2862072"/>
            <a:ext cx="14813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5F8F7"/>
                </a:solidFill>
                <a:latin typeface="PingFang SC" panose="020B0400000000000000" charset="-122"/>
              </a:rPr>
              <a:t>NetBox</a:t>
            </a:r>
            <a:endParaRPr sz="14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9584" y="3236976"/>
            <a:ext cx="1481328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规划、IPAM、DCIM、元数据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431536" y="2743200"/>
            <a:ext cx="2267712" cy="1042415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F2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96128" y="2907792"/>
            <a:ext cx="402336" cy="402336"/>
          </a:xfrm>
          <a:prstGeom prst="ellipse">
            <a:avLst/>
          </a:prstGeom>
          <a:solidFill>
            <a:srgbClr val="F29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96128" y="291236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C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08192" y="286207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5F8F7"/>
                </a:solidFill>
                <a:latin typeface="PingFang SC" panose="020B0400000000000000" charset="-122"/>
              </a:rPr>
              <a:t>Containerlab</a:t>
            </a:r>
            <a:endParaRPr sz="14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08192" y="3236976"/>
            <a:ext cx="1463040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部署可重复的网络实验室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973568" y="2743200"/>
            <a:ext cx="2505456" cy="1042415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F2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38160" y="2907792"/>
            <a:ext cx="402336" cy="402336"/>
          </a:xfrm>
          <a:prstGeom prst="ellipse">
            <a:avLst/>
          </a:prstGeom>
          <a:solidFill>
            <a:srgbClr val="F29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291236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R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650224" y="2862072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5F8F7"/>
                </a:solidFill>
                <a:latin typeface="PingFang SC" panose="020B0400000000000000" charset="-122"/>
              </a:rPr>
              <a:t>运行状态</a:t>
            </a:r>
            <a:endParaRPr sz="14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650224" y="3236976"/>
            <a:ext cx="1700784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inspect JSON / topology-data.json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852928" y="4590288"/>
            <a:ext cx="2286000" cy="932688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B9A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017520" y="4754879"/>
            <a:ext cx="402336" cy="402336"/>
          </a:xfrm>
          <a:prstGeom prst="ellipse">
            <a:avLst/>
          </a:prstGeom>
          <a:solidFill>
            <a:srgbClr val="B9A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7520" y="4759451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B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29584" y="4709159"/>
            <a:ext cx="14813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5F8F7"/>
                </a:solidFill>
                <a:latin typeface="PingFang SC" panose="020B0400000000000000" charset="-122"/>
              </a:rPr>
              <a:t>NetBrain</a:t>
            </a:r>
            <a:endParaRPr sz="13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529584" y="5084064"/>
            <a:ext cx="14813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实时发现、映射、诊断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31536" y="4590288"/>
            <a:ext cx="2267712" cy="932688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EE8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596128" y="4754879"/>
            <a:ext cx="402336" cy="402336"/>
          </a:xfrm>
          <a:prstGeom prst="ellipse">
            <a:avLst/>
          </a:prstGeom>
          <a:solidFill>
            <a:srgbClr val="EE8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96128" y="4759451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T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108192" y="4709159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5F8F7"/>
                </a:solidFill>
                <a:latin typeface="PingFang SC" panose="020B0400000000000000" charset="-122"/>
              </a:rPr>
              <a:t>Tenable</a:t>
            </a:r>
            <a:endParaRPr sz="13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108192" y="5084064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漏洞、合规、暴露管理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973568" y="4590288"/>
            <a:ext cx="2505456" cy="932688"/>
          </a:xfrm>
          <a:prstGeom prst="roundRect">
            <a:avLst/>
          </a:prstGeom>
          <a:solidFill>
            <a:srgbClr val="172733"/>
          </a:solidFill>
          <a:ln w="13970">
            <a:solidFill>
              <a:srgbClr val="9AD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38160" y="4754879"/>
            <a:ext cx="402336" cy="402336"/>
          </a:xfrm>
          <a:prstGeom prst="ellipse">
            <a:avLst/>
          </a:prstGeom>
          <a:solidFill>
            <a:srgbClr val="9AD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38160" y="4759451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D1820"/>
                </a:solidFill>
                <a:latin typeface="PingFang SC" panose="020B0400000000000000" charset="-122"/>
              </a:rPr>
              <a:t>I</a:t>
            </a:r>
            <a:endParaRPr sz="950" b="1">
              <a:solidFill>
                <a:srgbClr val="0D1820"/>
              </a:solidFill>
              <a:latin typeface="PingFang SC" panose="020B0400000000000000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650224" y="4709159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5F8F7"/>
                </a:solidFill>
                <a:latin typeface="PingFang SC" panose="020B0400000000000000" charset="-122"/>
              </a:rPr>
              <a:t>ITSM / 工单</a:t>
            </a:r>
            <a:endParaRPr sz="1350" b="1">
              <a:solidFill>
                <a:srgbClr val="F5F8F7"/>
              </a:solidFill>
              <a:latin typeface="PingFang SC" panose="020B0400000000000000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650224" y="5084064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A9BBC1"/>
                </a:solidFill>
                <a:latin typeface="PingFang SC" panose="020B0400000000000000" charset="-122"/>
              </a:rPr>
              <a:t>修复流程与变更审批</a:t>
            </a:r>
            <a:endParaRPr sz="93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37896" y="25059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70" b="1">
                <a:solidFill>
                  <a:srgbClr val="F3C65B"/>
                </a:solidFill>
                <a:latin typeface="PingFang SC" panose="020B0400000000000000" charset="-122"/>
              </a:rPr>
              <a:t>01 设计与版本</a:t>
            </a:r>
            <a:endParaRPr sz="770" b="1">
              <a:solidFill>
                <a:srgbClr val="F3C65B"/>
              </a:solidFill>
              <a:latin typeface="PingFang SC" panose="020B0400000000000000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871216" y="243230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70" b="1">
                <a:solidFill>
                  <a:srgbClr val="7FB5F5"/>
                </a:solidFill>
                <a:latin typeface="PingFang SC" panose="020B0400000000000000" charset="-122"/>
              </a:rPr>
              <a:t>02 权威数据</a:t>
            </a:r>
            <a:endParaRPr sz="770" b="1">
              <a:solidFill>
                <a:srgbClr val="7FB5F5"/>
              </a:solidFill>
              <a:latin typeface="PingFang SC" panose="020B0400000000000000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49824" y="243230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70" b="1">
                <a:solidFill>
                  <a:srgbClr val="F29B5D"/>
                </a:solidFill>
                <a:latin typeface="PingFang SC" panose="020B0400000000000000" charset="-122"/>
              </a:rPr>
              <a:t>03 实验执行</a:t>
            </a:r>
            <a:endParaRPr sz="770" b="1">
              <a:solidFill>
                <a:srgbClr val="F29B5D"/>
              </a:solidFill>
              <a:latin typeface="PingFang SC" panose="020B0400000000000000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991856" y="243230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70" b="1">
                <a:solidFill>
                  <a:srgbClr val="F29B5D"/>
                </a:solidFill>
                <a:latin typeface="PingFang SC" panose="020B0400000000000000" charset="-122"/>
              </a:rPr>
              <a:t>04 状态回写</a:t>
            </a:r>
            <a:endParaRPr sz="770" b="1">
              <a:solidFill>
                <a:srgbClr val="F29B5D"/>
              </a:solidFill>
              <a:latin typeface="PingFang SC" panose="020B0400000000000000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566928" y="6053328"/>
            <a:ext cx="9912096" cy="0"/>
          </a:xfrm>
          <a:prstGeom prst="line">
            <a:avLst/>
          </a:prstGeom>
          <a:ln w="9525">
            <a:solidFill>
              <a:srgbClr val="49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85216" y="6126480"/>
            <a:ext cx="9509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9BBC1"/>
                </a:solidFill>
                <a:latin typeface="PingFang SC" panose="020B0400000000000000" charset="-122"/>
              </a:rPr>
              <a:t>边界原则：NetBox MCP 只通过 NetBox API 读写；NetBox 保存运营摘要，动态状态与漏洞详情仍归属 NetBrain / Tenable。</a:t>
            </a:r>
            <a:endParaRPr sz="840" b="0">
              <a:solidFill>
                <a:srgbClr val="A9BBC1"/>
              </a:solidFill>
              <a:latin typeface="PingFang SC" panose="020B0400000000000000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1018520" y="610819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5DD6C1"/>
                </a:solidFill>
                <a:latin typeface="PingFang SC" panose="020B0400000000000000" charset="-122"/>
              </a:rPr>
              <a:t>01 / 01</a:t>
            </a:r>
            <a:endParaRPr sz="800" b="1">
              <a:solidFill>
                <a:srgbClr val="5DD6C1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WPS Docs</Application>
  <PresentationFormat>On-screen Show (4:3)</PresentationFormat>
  <Paragraphs>95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</vt:lpstr>
      <vt:lpstr>PingFang SC</vt:lpstr>
      <vt:lpstr>Calibri</vt:lpstr>
      <vt:lpstr>Helvetica Neue</vt:lpstr>
      <vt:lpstr>SimSun</vt:lpstr>
      <vt:lpstr>汉仪书宋二KW</vt:lpstr>
      <vt:lpstr>Microsoft YaHei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BarryXue</cp:lastModifiedBy>
  <cp:revision>3</cp:revision>
  <dcterms:created xsi:type="dcterms:W3CDTF">2026-09-16T08:56:21Z</dcterms:created>
  <dcterms:modified xsi:type="dcterms:W3CDTF">2026-09-16T08:56:21Z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C37FC22A7ECC18395052AA6A4E3454BF_42</vt:lpwstr>
  </property>
  <property fmtid="{D5CDD505-2E9C-101B-9397-08002B2CF9AE}" pid="3" name="KSOProductBuildVer">
    <vt:lpwstr>1033-12.1.28492.28492</vt:lpwstr>
  </property>
</Properties>
</file>