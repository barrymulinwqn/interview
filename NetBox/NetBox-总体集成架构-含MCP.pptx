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8" userDrawn="1">
          <p15:clr>
            <a:srgbClr val="A4A3A4"/>
          </p15:clr>
        </p15:guide>
        <p15:guide id="2" pos="30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18"/>
        <p:guide pos="302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820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16" name="Group 115"/>
          <p:cNvGrpSpPr/>
          <p:nvPr/>
        </p:nvGrpSpPr>
        <p:grpSpPr>
          <a:xfrm>
            <a:off x="365125" y="768350"/>
            <a:ext cx="11043285" cy="5328285"/>
            <a:chOff x="575" y="1210"/>
            <a:chExt cx="18231" cy="8669"/>
          </a:xfrm>
        </p:grpSpPr>
        <p:cxnSp>
          <p:nvCxnSpPr>
            <p:cNvPr id="2" name="Connector 1"/>
            <p:cNvCxnSpPr/>
            <p:nvPr/>
          </p:nvCxnSpPr>
          <p:spPr>
            <a:xfrm>
              <a:off x="778" y="1210"/>
              <a:ext cx="17626" cy="0"/>
            </a:xfrm>
            <a:prstGeom prst="line">
              <a:avLst/>
            </a:prstGeom>
            <a:ln w="7620">
              <a:solidFill>
                <a:srgbClr val="13222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Connector 2"/>
            <p:cNvCxnSpPr/>
            <p:nvPr/>
          </p:nvCxnSpPr>
          <p:spPr>
            <a:xfrm>
              <a:off x="778" y="1469"/>
              <a:ext cx="17626" cy="0"/>
            </a:xfrm>
            <a:prstGeom prst="line">
              <a:avLst/>
            </a:prstGeom>
            <a:ln w="7620">
              <a:solidFill>
                <a:srgbClr val="13222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>
              <a:off x="778" y="9878"/>
              <a:ext cx="17626" cy="0"/>
            </a:xfrm>
            <a:prstGeom prst="line">
              <a:avLst/>
            </a:prstGeom>
            <a:ln w="7620">
              <a:solidFill>
                <a:srgbClr val="13222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778" y="1210"/>
              <a:ext cx="0" cy="8669"/>
            </a:xfrm>
            <a:prstGeom prst="line">
              <a:avLst/>
            </a:prstGeom>
            <a:ln w="7620">
              <a:solidFill>
                <a:srgbClr val="13222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>
              <a:off x="18403" y="1210"/>
              <a:ext cx="0" cy="8669"/>
            </a:xfrm>
            <a:prstGeom prst="line">
              <a:avLst/>
            </a:prstGeom>
            <a:ln w="7620">
              <a:solidFill>
                <a:srgbClr val="13222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9101" y="1465"/>
              <a:ext cx="1037" cy="2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820" b="0">
                  <a:solidFill>
                    <a:srgbClr val="5DD6C1"/>
                  </a:solidFill>
                  <a:latin typeface="PingFang SC" panose="020B0400000000000000" charset="-122"/>
                </a:rPr>
                <a:t>MCP</a:t>
              </a:r>
              <a:r>
                <a:rPr lang="en-US" sz="820" b="0">
                  <a:solidFill>
                    <a:srgbClr val="5DD6C1"/>
                  </a:solidFill>
                  <a:latin typeface="PingFang SC" panose="020B0400000000000000" charset="-122"/>
                </a:rPr>
                <a:t> </a:t>
              </a:r>
              <a:r>
                <a:rPr lang="en-US" sz="820" b="0">
                  <a:solidFill>
                    <a:srgbClr val="5DD6C1"/>
                  </a:solidFill>
                  <a:latin typeface="PingFang SC" panose="020B0400000000000000" charset="-122"/>
                </a:rPr>
                <a:t>Client</a:t>
              </a:r>
              <a:endParaRPr lang="en-US" sz="820" b="0">
                <a:solidFill>
                  <a:srgbClr val="5DD6C1"/>
                </a:solidFill>
                <a:latin typeface="PingFang SC" panose="020B0400000000000000" charset="-122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690" y="2909"/>
              <a:ext cx="2074" cy="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80" b="0">
                  <a:solidFill>
                    <a:srgbClr val="5DD6C1"/>
                  </a:solidFill>
                  <a:latin typeface="PingFang SC" panose="020B0400000000000000" charset="-122"/>
                </a:rPr>
                <a:t>NetBox REST / GraphQL</a:t>
              </a:r>
              <a:endParaRPr sz="780" b="0">
                <a:solidFill>
                  <a:srgbClr val="5DD6C1"/>
                </a:solidFill>
                <a:latin typeface="PingFang SC" panose="020B0400000000000000" charset="-122"/>
              </a:endParaRPr>
            </a:p>
          </p:txBody>
        </p:sp>
        <p:grpSp>
          <p:nvGrpSpPr>
            <p:cNvPr id="106" name="Group 105"/>
            <p:cNvGrpSpPr/>
            <p:nvPr/>
          </p:nvGrpSpPr>
          <p:grpSpPr>
            <a:xfrm>
              <a:off x="2082" y="3658"/>
              <a:ext cx="9578" cy="718"/>
              <a:chOff x="2082" y="3658"/>
              <a:chExt cx="9578" cy="718"/>
            </a:xfrm>
          </p:grpSpPr>
          <p:cxnSp>
            <p:nvCxnSpPr>
              <p:cNvPr id="15" name="Connector 14"/>
              <p:cNvCxnSpPr/>
              <p:nvPr/>
            </p:nvCxnSpPr>
            <p:spPr>
              <a:xfrm flipV="1">
                <a:off x="2082" y="3658"/>
                <a:ext cx="0" cy="719"/>
              </a:xfrm>
              <a:prstGeom prst="line">
                <a:avLst/>
              </a:prstGeom>
              <a:ln w="18415">
                <a:solidFill>
                  <a:srgbClr val="F3C65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ctor 15"/>
              <p:cNvCxnSpPr/>
              <p:nvPr/>
            </p:nvCxnSpPr>
            <p:spPr>
              <a:xfrm>
                <a:off x="2082" y="3672"/>
                <a:ext cx="9578" cy="0"/>
              </a:xfrm>
              <a:prstGeom prst="line">
                <a:avLst/>
              </a:prstGeom>
              <a:ln w="18415">
                <a:solidFill>
                  <a:srgbClr val="F3C65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nector 16"/>
              <p:cNvCxnSpPr>
                <a:endCxn id="59" idx="0"/>
              </p:cNvCxnSpPr>
              <p:nvPr/>
            </p:nvCxnSpPr>
            <p:spPr>
              <a:xfrm>
                <a:off x="11658" y="3658"/>
                <a:ext cx="0" cy="712"/>
              </a:xfrm>
              <a:prstGeom prst="line">
                <a:avLst/>
              </a:prstGeom>
              <a:ln w="18415">
                <a:solidFill>
                  <a:srgbClr val="F3C65B"/>
                </a:solidFill>
                <a:headEnd type="none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TextBox 18"/>
            <p:cNvSpPr txBox="1"/>
            <p:nvPr/>
          </p:nvSpPr>
          <p:spPr>
            <a:xfrm>
              <a:off x="4493" y="3388"/>
              <a:ext cx="749" cy="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780" b="0">
                  <a:solidFill>
                    <a:srgbClr val="F3C65B"/>
                  </a:solidFill>
                  <a:latin typeface="PingFang SC" panose="020B0400000000000000" charset="-122"/>
                </a:rPr>
                <a:t>CI/CD</a:t>
              </a:r>
              <a:endParaRPr sz="780" b="0">
                <a:solidFill>
                  <a:srgbClr val="F3C65B"/>
                </a:solidFill>
                <a:latin typeface="PingFang SC" panose="020B0400000000000000" charset="-122"/>
              </a:endParaRPr>
            </a:p>
          </p:txBody>
        </p:sp>
        <p:cxnSp>
          <p:nvCxnSpPr>
            <p:cNvPr id="21" name="Connector 20"/>
            <p:cNvCxnSpPr>
              <a:endCxn id="64" idx="1"/>
            </p:cNvCxnSpPr>
            <p:nvPr/>
          </p:nvCxnSpPr>
          <p:spPr>
            <a:xfrm>
              <a:off x="12911" y="5027"/>
              <a:ext cx="2294" cy="0"/>
            </a:xfrm>
            <a:prstGeom prst="line">
              <a:avLst/>
            </a:prstGeom>
            <a:ln w="18415">
              <a:solidFill>
                <a:srgbClr val="F29B5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3514" y="4207"/>
              <a:ext cx="1624" cy="658"/>
            </a:xfrm>
            <a:prstGeom prst="rect">
              <a:avLst/>
            </a:prstGeom>
            <a:noFill/>
          </p:spPr>
          <p:txBody>
            <a:bodyPr wrap="square" lIns="18288" tIns="9144" rIns="18288" bIns="9144" anchor="ctr">
              <a:noAutofit/>
            </a:bodyPr>
            <a:lstStyle/>
            <a:p>
              <a:pPr algn="ctr"/>
              <a:r>
                <a:rPr sz="700" b="0">
                  <a:solidFill>
                    <a:srgbClr val="A9BBC1"/>
                  </a:solidFill>
                  <a:latin typeface="PingFang SC" panose="020B0400000000000000" charset="-122"/>
                </a:rPr>
                <a:t>inspect JSON、</a:t>
              </a:r>
              <a:endParaRPr sz="700" b="0">
                <a:solidFill>
                  <a:srgbClr val="A9BBC1"/>
                </a:solidFill>
                <a:latin typeface="PingFang SC" panose="020B0400000000000000" charset="-122"/>
              </a:endParaRPr>
            </a:p>
            <a:p>
              <a:pPr algn="ctr"/>
              <a:r>
                <a:rPr sz="700" b="0">
                  <a:solidFill>
                    <a:srgbClr val="A9BBC1"/>
                  </a:solidFill>
                  <a:latin typeface="PingFang SC" panose="020B0400000000000000" charset="-122"/>
                </a:rPr>
                <a:t>トポロジーエクスポート</a:t>
              </a:r>
              <a:endParaRPr sz="700" b="0">
                <a:solidFill>
                  <a:srgbClr val="A9BBC1"/>
                </a:solidFill>
                <a:latin typeface="PingFang SC" panose="020B0400000000000000" charset="-122"/>
              </a:endParaRPr>
            </a:p>
          </p:txBody>
        </p:sp>
        <p:cxnSp>
          <p:nvCxnSpPr>
            <p:cNvPr id="23" name="Connector 22"/>
            <p:cNvCxnSpPr>
              <a:stCxn id="54" idx="1"/>
            </p:cNvCxnSpPr>
            <p:nvPr/>
          </p:nvCxnSpPr>
          <p:spPr>
            <a:xfrm flipH="1">
              <a:off x="3673" y="5141"/>
              <a:ext cx="1330" cy="0"/>
            </a:xfrm>
            <a:prstGeom prst="line">
              <a:avLst/>
            </a:prstGeom>
            <a:ln w="14604">
              <a:solidFill>
                <a:srgbClr val="7FB5F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3765" y="4287"/>
              <a:ext cx="1163" cy="759"/>
            </a:xfrm>
            <a:prstGeom prst="rect">
              <a:avLst/>
            </a:prstGeom>
            <a:noFill/>
          </p:spPr>
          <p:txBody>
            <a:bodyPr wrap="square" lIns="18288" tIns="9144" rIns="18288" bIns="9144" anchor="ctr">
              <a:noAutofit/>
            </a:bodyPr>
            <a:lstStyle/>
            <a:p>
              <a:pPr algn="ctr"/>
              <a:r>
                <a:rPr sz="700" b="0">
                  <a:solidFill>
                    <a:srgbClr val="A9BBC1"/>
                  </a:solidFill>
                  <a:latin typeface="PingFang SC" panose="020B0400000000000000" charset="-122"/>
                </a:rPr>
                <a:t>トポロジーまたは</a:t>
              </a:r>
              <a:endParaRPr sz="700" b="0">
                <a:solidFill>
                  <a:srgbClr val="A9BBC1"/>
                </a:solidFill>
                <a:latin typeface="PingFang SC" panose="020B0400000000000000" charset="-122"/>
              </a:endParaRPr>
            </a:p>
            <a:p>
              <a:pPr algn="ctr"/>
              <a:r>
                <a:rPr sz="700" b="0">
                  <a:solidFill>
                    <a:srgbClr val="A9BBC1"/>
                  </a:solidFill>
                  <a:latin typeface="PingFang SC" panose="020B0400000000000000" charset="-122"/>
                </a:rPr>
                <a:t>デバイス一覧を生成</a:t>
              </a:r>
              <a:endParaRPr sz="700" b="0">
                <a:solidFill>
                  <a:srgbClr val="A9BBC1"/>
                </a:solidFill>
                <a:latin typeface="PingFang SC" panose="020B0400000000000000" charset="-122"/>
              </a:endParaRP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6812" y="5818"/>
              <a:ext cx="0" cy="691"/>
            </a:xfrm>
            <a:prstGeom prst="line">
              <a:avLst/>
            </a:prstGeom>
            <a:ln w="15875">
              <a:solidFill>
                <a:srgbClr val="F29B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 flipH="1">
              <a:off x="6293" y="6509"/>
              <a:ext cx="10519" cy="0"/>
            </a:xfrm>
            <a:prstGeom prst="line">
              <a:avLst/>
            </a:prstGeom>
            <a:ln w="15875">
              <a:solidFill>
                <a:srgbClr val="F29B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6293" y="5947"/>
              <a:ext cx="0" cy="562"/>
            </a:xfrm>
            <a:prstGeom prst="line">
              <a:avLst/>
            </a:prstGeom>
            <a:ln w="15875">
              <a:solidFill>
                <a:srgbClr val="F29B5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14794" y="5992"/>
              <a:ext cx="1847" cy="360"/>
            </a:xfrm>
            <a:prstGeom prst="rect">
              <a:avLst/>
            </a:prstGeom>
            <a:noFill/>
          </p:spPr>
          <p:txBody>
            <a:bodyPr wrap="square" lIns="18288" tIns="9144" rIns="18288" bIns="9144" anchor="ctr">
              <a:noAutofit/>
            </a:bodyPr>
            <a:lstStyle/>
            <a:p>
              <a:pPr algn="ctr"/>
              <a:r>
                <a:rPr sz="700" b="0">
                  <a:solidFill>
                    <a:srgbClr val="A9BBC1"/>
                  </a:solidFill>
                  <a:latin typeface="PingFang SC" panose="020B0400000000000000" charset="-122"/>
                </a:rPr>
                <a:t>テスト環境のアセット一覧</a:t>
              </a:r>
              <a:endParaRPr sz="700" b="0">
                <a:solidFill>
                  <a:srgbClr val="A9BBC1"/>
                </a:solidFill>
                <a:latin typeface="PingFang SC" panose="020B0400000000000000" charset="-122"/>
              </a:endParaRP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6003" y="5947"/>
              <a:ext cx="0" cy="1759"/>
            </a:xfrm>
            <a:prstGeom prst="line">
              <a:avLst/>
            </a:prstGeom>
            <a:ln w="17145">
              <a:solidFill>
                <a:srgbClr val="7FB5F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4491" y="6603"/>
              <a:ext cx="1569" cy="658"/>
            </a:xfrm>
            <a:prstGeom prst="rect">
              <a:avLst/>
            </a:prstGeom>
            <a:noFill/>
          </p:spPr>
          <p:txBody>
            <a:bodyPr wrap="square" lIns="18288" tIns="9144" rIns="18288" bIns="9144" anchor="ctr">
              <a:noAutofit/>
            </a:bodyPr>
            <a:lstStyle/>
            <a:p>
              <a:pPr algn="ctr"/>
              <a:r>
                <a:rPr sz="670" b="0">
                  <a:solidFill>
                    <a:srgbClr val="A9BBC1"/>
                  </a:solidFill>
                  <a:latin typeface="PingFang SC" panose="020B0400000000000000" charset="-122"/>
                </a:rPr>
                <a:t>NetBox API </a:t>
              </a:r>
              <a:endParaRPr sz="670" b="0">
                <a:solidFill>
                  <a:srgbClr val="A9BBC1"/>
                </a:solidFill>
                <a:latin typeface="PingFang SC" panose="020B0400000000000000" charset="-122"/>
              </a:endParaRPr>
            </a:p>
            <a:p>
              <a:pPr algn="ctr"/>
              <a:r>
                <a:rPr sz="670" b="0">
                  <a:solidFill>
                    <a:srgbClr val="A9BBC1"/>
                  </a:solidFill>
                  <a:latin typeface="PingFang SC" panose="020B0400000000000000" charset="-122"/>
                </a:rPr>
                <a:t>による静的メタデータ同期</a:t>
              </a:r>
              <a:endParaRPr sz="670" b="0">
                <a:solidFill>
                  <a:srgbClr val="A9BBC1"/>
                </a:solidFill>
                <a:latin typeface="PingFang SC" panose="020B0400000000000000" charset="-122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533" y="4346"/>
              <a:ext cx="1329" cy="692"/>
            </a:xfrm>
            <a:prstGeom prst="rect">
              <a:avLst/>
            </a:prstGeom>
            <a:noFill/>
          </p:spPr>
          <p:txBody>
            <a:bodyPr wrap="square" lIns="18288" tIns="9144" rIns="18288" bIns="9144" anchor="ctr">
              <a:noAutofit/>
            </a:bodyPr>
            <a:lstStyle/>
            <a:p>
              <a:pPr algn="ctr"/>
              <a:r>
                <a:rPr sz="670" b="0">
                  <a:solidFill>
                    <a:srgbClr val="A9BBC1"/>
                  </a:solidFill>
                  <a:latin typeface="PingFang SC" panose="020B0400000000000000" charset="-122"/>
                </a:rPr>
                <a:t>許可済みスキャン対象</a:t>
              </a:r>
              <a:endParaRPr sz="670" b="0">
                <a:solidFill>
                  <a:srgbClr val="A9BBC1"/>
                </a:solidFill>
                <a:latin typeface="PingFang SC" panose="020B0400000000000000" charset="-122"/>
              </a:endParaRPr>
            </a:p>
            <a:p>
              <a:pPr algn="ctr"/>
              <a:r>
                <a:rPr sz="670" b="0">
                  <a:solidFill>
                    <a:srgbClr val="A9BBC1"/>
                  </a:solidFill>
                  <a:latin typeface="PingFang SC" panose="020B0400000000000000" charset="-122"/>
                </a:rPr>
                <a:t>とコンテキスト</a:t>
              </a:r>
              <a:endParaRPr sz="670" b="0">
                <a:solidFill>
                  <a:srgbClr val="A9BBC1"/>
                </a:solidFill>
                <a:latin typeface="PingFang SC" panose="020B0400000000000000" charset="-122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121" y="9334"/>
              <a:ext cx="1568" cy="465"/>
            </a:xfrm>
            <a:prstGeom prst="rect">
              <a:avLst/>
            </a:prstGeom>
            <a:noFill/>
          </p:spPr>
          <p:txBody>
            <a:bodyPr wrap="square" lIns="18288" tIns="9144" rIns="18288" bIns="9144" anchor="ctr">
              <a:noAutofit/>
            </a:bodyPr>
            <a:lstStyle/>
            <a:p>
              <a:pPr algn="ctr"/>
              <a:r>
                <a:rPr sz="670" b="0">
                  <a:solidFill>
                    <a:srgbClr val="A9BBC1"/>
                  </a:solidFill>
                  <a:latin typeface="PingFang SC" panose="020B0400000000000000" charset="-122"/>
                </a:rPr>
                <a:t>リアルタイムのネットワーク状態と診断</a:t>
              </a:r>
              <a:endParaRPr sz="670" b="0">
                <a:solidFill>
                  <a:srgbClr val="A9BBC1"/>
                </a:solidFill>
                <a:latin typeface="PingFang SC" panose="020B0400000000000000" charset="-122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984" y="8353"/>
              <a:ext cx="1624" cy="634"/>
            </a:xfrm>
            <a:prstGeom prst="rect">
              <a:avLst/>
            </a:prstGeom>
            <a:noFill/>
          </p:spPr>
          <p:txBody>
            <a:bodyPr wrap="square" lIns="18288" tIns="9144" rIns="18288" bIns="9144" anchor="ctr">
              <a:noAutofit/>
            </a:bodyPr>
            <a:lstStyle/>
            <a:p>
              <a:pPr algn="ctr"/>
              <a:r>
                <a:rPr sz="670" b="0">
                  <a:solidFill>
                    <a:srgbClr val="A9BBC1"/>
                  </a:solidFill>
                  <a:latin typeface="PingFang SC" panose="020B0400000000000000" charset="-122"/>
                </a:rPr>
                <a:t>リスク概要、</a:t>
              </a:r>
              <a:endParaRPr sz="670" b="0">
                <a:solidFill>
                  <a:srgbClr val="A9BBC1"/>
                </a:solidFill>
                <a:latin typeface="PingFang SC" panose="020B0400000000000000" charset="-122"/>
              </a:endParaRPr>
            </a:p>
            <a:p>
              <a:pPr algn="ctr"/>
              <a:r>
                <a:rPr sz="670" b="0">
                  <a:solidFill>
                    <a:srgbClr val="A9BBC1"/>
                  </a:solidFill>
                  <a:latin typeface="PingFang SC" panose="020B0400000000000000" charset="-122"/>
                </a:rPr>
                <a:t>外部リンク、修正ステータス</a:t>
              </a:r>
              <a:endParaRPr sz="670" b="0">
                <a:solidFill>
                  <a:srgbClr val="A9BBC1"/>
                </a:solidFill>
                <a:latin typeface="PingFang SC" panose="020B0400000000000000" charset="-122"/>
              </a:endParaRPr>
            </a:p>
          </p:txBody>
        </p:sp>
        <p:cxnSp>
          <p:nvCxnSpPr>
            <p:cNvPr id="37" name="Connector 36"/>
            <p:cNvCxnSpPr>
              <a:stCxn id="74" idx="3"/>
              <a:endCxn id="79" idx="1"/>
            </p:cNvCxnSpPr>
            <p:nvPr/>
          </p:nvCxnSpPr>
          <p:spPr>
            <a:xfrm flipV="1">
              <a:off x="12125" y="8387"/>
              <a:ext cx="2390" cy="17"/>
            </a:xfrm>
            <a:prstGeom prst="line">
              <a:avLst/>
            </a:prstGeom>
            <a:ln w="17145">
              <a:solidFill>
                <a:srgbClr val="EE897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12377" y="8508"/>
              <a:ext cx="1903" cy="466"/>
            </a:xfrm>
            <a:prstGeom prst="rect">
              <a:avLst/>
            </a:prstGeom>
            <a:noFill/>
          </p:spPr>
          <p:txBody>
            <a:bodyPr wrap="square" lIns="18288" tIns="9144" rIns="18288" bIns="9144" anchor="ctr">
              <a:noAutofit/>
            </a:bodyPr>
            <a:lstStyle/>
            <a:p>
              <a:pPr algn="ctr"/>
              <a:r>
                <a:rPr sz="670" b="0">
                  <a:solidFill>
                    <a:srgbClr val="A9BBC1"/>
                  </a:solidFill>
                  <a:latin typeface="PingFang SC" panose="020B0400000000000000" charset="-122"/>
                </a:rPr>
                <a:t>脆弱性チケットと修正タスク</a:t>
              </a:r>
              <a:endParaRPr sz="670" b="0">
                <a:solidFill>
                  <a:srgbClr val="A9BBC1"/>
                </a:solidFill>
                <a:latin typeface="PingFang SC" panose="020B0400000000000000" charset="-122"/>
              </a:endParaRPr>
            </a:p>
          </p:txBody>
        </p:sp>
        <p:grpSp>
          <p:nvGrpSpPr>
            <p:cNvPr id="95" name="Group 94"/>
            <p:cNvGrpSpPr/>
            <p:nvPr/>
          </p:nvGrpSpPr>
          <p:grpSpPr>
            <a:xfrm>
              <a:off x="4075" y="1267"/>
              <a:ext cx="4608" cy="1065"/>
              <a:chOff x="7315" y="1268"/>
              <a:chExt cx="4608" cy="1065"/>
            </a:xfrm>
          </p:grpSpPr>
          <p:sp>
            <p:nvSpPr>
              <p:cNvPr id="39" name="Rounded Rectangle 38"/>
              <p:cNvSpPr/>
              <p:nvPr/>
            </p:nvSpPr>
            <p:spPr>
              <a:xfrm>
                <a:off x="7315" y="1268"/>
                <a:ext cx="4608" cy="1065"/>
              </a:xfrm>
              <a:prstGeom prst="roundRect">
                <a:avLst/>
              </a:prstGeom>
              <a:solidFill>
                <a:srgbClr val="172733"/>
              </a:solidFill>
              <a:ln w="13970">
                <a:solidFill>
                  <a:srgbClr val="F3C65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Oval 39"/>
              <p:cNvSpPr/>
              <p:nvPr/>
            </p:nvSpPr>
            <p:spPr>
              <a:xfrm>
                <a:off x="7574" y="1499"/>
                <a:ext cx="634" cy="634"/>
              </a:xfrm>
              <a:prstGeom prst="ellipse">
                <a:avLst/>
              </a:prstGeom>
              <a:solidFill>
                <a:srgbClr val="F3C65B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7574" y="1718"/>
                <a:ext cx="634" cy="2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950" b="1">
                    <a:solidFill>
                      <a:srgbClr val="0D1820"/>
                    </a:solidFill>
                    <a:latin typeface="PingFang SC" panose="020B0400000000000000" charset="-122"/>
                  </a:rPr>
                  <a:t>AI</a:t>
                </a:r>
                <a:endParaRPr sz="950" b="1">
                  <a:solidFill>
                    <a:srgbClr val="0D1820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8381" y="1464"/>
                <a:ext cx="3341" cy="33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sz="1320" b="1">
                    <a:solidFill>
                      <a:srgbClr val="F5F8F7"/>
                    </a:solidFill>
                    <a:latin typeface="PingFang SC" panose="020B0400000000000000" charset="-122"/>
                  </a:rPr>
                  <a:t>AI / 自動化クライアント</a:t>
                </a:r>
                <a:endParaRPr sz="1320" b="1">
                  <a:solidFill>
                    <a:srgbClr val="F5F8F7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8381" y="1793"/>
                <a:ext cx="3341" cy="23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エージェント、スクリプト、ワークフロー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</p:txBody>
          </p:sp>
        </p:grpSp>
        <p:grpSp>
          <p:nvGrpSpPr>
            <p:cNvPr id="99" name="Group 98"/>
            <p:cNvGrpSpPr/>
            <p:nvPr/>
          </p:nvGrpSpPr>
          <p:grpSpPr>
            <a:xfrm>
              <a:off x="8683" y="1268"/>
              <a:ext cx="6522" cy="1064"/>
              <a:chOff x="8683" y="1268"/>
              <a:chExt cx="6522" cy="1064"/>
            </a:xfrm>
          </p:grpSpPr>
          <p:cxnSp>
            <p:nvCxnSpPr>
              <p:cNvPr id="10" name="Connector 9"/>
              <p:cNvCxnSpPr>
                <a:stCxn id="39" idx="3"/>
                <a:endCxn id="44" idx="1"/>
              </p:cNvCxnSpPr>
              <p:nvPr/>
            </p:nvCxnSpPr>
            <p:spPr>
              <a:xfrm>
                <a:off x="8683" y="1800"/>
                <a:ext cx="1914" cy="0"/>
              </a:xfrm>
              <a:prstGeom prst="line">
                <a:avLst/>
              </a:prstGeom>
              <a:ln w="20320">
                <a:solidFill>
                  <a:srgbClr val="5DD6C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7" name="Group 96"/>
              <p:cNvGrpSpPr/>
              <p:nvPr/>
            </p:nvGrpSpPr>
            <p:grpSpPr>
              <a:xfrm>
                <a:off x="10597" y="1268"/>
                <a:ext cx="4608" cy="1064"/>
                <a:chOff x="7315" y="2678"/>
                <a:chExt cx="4608" cy="1064"/>
              </a:xfrm>
            </p:grpSpPr>
            <p:sp>
              <p:nvSpPr>
                <p:cNvPr id="44" name="Rounded Rectangle 43"/>
                <p:cNvSpPr/>
                <p:nvPr/>
              </p:nvSpPr>
              <p:spPr>
                <a:xfrm>
                  <a:off x="7315" y="2678"/>
                  <a:ext cx="4608" cy="1064"/>
                </a:xfrm>
                <a:prstGeom prst="roundRect">
                  <a:avLst/>
                </a:prstGeom>
                <a:solidFill>
                  <a:srgbClr val="172733"/>
                </a:solidFill>
                <a:ln w="13970">
                  <a:solidFill>
                    <a:srgbClr val="5DD6C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7574" y="2938"/>
                  <a:ext cx="634" cy="634"/>
                </a:xfrm>
                <a:prstGeom prst="ellipse">
                  <a:avLst/>
                </a:prstGeom>
                <a:solidFill>
                  <a:srgbClr val="5DD6C1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6" name="TextBox 45"/>
                <p:cNvSpPr txBox="1"/>
                <p:nvPr/>
              </p:nvSpPr>
              <p:spPr>
                <a:xfrm>
                  <a:off x="7574" y="3114"/>
                  <a:ext cx="634" cy="23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950" b="1">
                      <a:solidFill>
                        <a:srgbClr val="0D1820"/>
                      </a:solidFill>
                      <a:latin typeface="PingFang SC" panose="020B0400000000000000" charset="-122"/>
                    </a:rPr>
                    <a:t>M</a:t>
                  </a:r>
                  <a:endParaRPr sz="950" b="1">
                    <a:solidFill>
                      <a:srgbClr val="0D1820"/>
                    </a:solidFill>
                    <a:latin typeface="PingFang SC" panose="020B0400000000000000" charset="-122"/>
                  </a:endParaRPr>
                </a:p>
              </p:txBody>
            </p:sp>
            <p:sp>
              <p:nvSpPr>
                <p:cNvPr id="47" name="TextBox 46"/>
                <p:cNvSpPr txBox="1"/>
                <p:nvPr/>
              </p:nvSpPr>
              <p:spPr>
                <a:xfrm>
                  <a:off x="8381" y="2913"/>
                  <a:ext cx="3341" cy="33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l"/>
                  <a:r>
                    <a:rPr sz="1320" b="1">
                      <a:solidFill>
                        <a:srgbClr val="F5F8F7"/>
                      </a:solidFill>
                      <a:latin typeface="PingFang SC" panose="020B0400000000000000" charset="-122"/>
                    </a:rPr>
                    <a:t>NetBox MCP Server</a:t>
                  </a:r>
                  <a:endParaRPr sz="1320" b="1">
                    <a:solidFill>
                      <a:srgbClr val="F5F8F7"/>
                    </a:solidFill>
                    <a:latin typeface="PingFang SC" panose="020B0400000000000000" charset="-122"/>
                  </a:endParaRPr>
                </a:p>
              </p:txBody>
            </p:sp>
            <p:sp>
              <p:nvSpPr>
                <p:cNvPr id="48" name="TextBox 47"/>
                <p:cNvSpPr txBox="1"/>
                <p:nvPr/>
              </p:nvSpPr>
              <p:spPr>
                <a:xfrm>
                  <a:off x="8381" y="3197"/>
                  <a:ext cx="3341" cy="3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noAutofit/>
                </a:bodyPr>
                <a:lstStyle/>
                <a:p>
                  <a:pPr algn="l"/>
                  <a:r>
                    <a:rPr sz="930" b="0">
                      <a:solidFill>
                        <a:srgbClr val="A9BBC1"/>
                      </a:solidFill>
                      <a:latin typeface="PingFang SC" panose="020B0400000000000000" charset="-122"/>
                    </a:rPr>
                    <a:t>NetBox tools / resources / prompts</a:t>
                  </a:r>
                  <a:endParaRPr sz="930" b="0">
                    <a:solidFill>
                      <a:srgbClr val="A9BBC1"/>
                    </a:solidFill>
                    <a:latin typeface="PingFang SC" panose="020B0400000000000000" charset="-122"/>
                  </a:endParaRPr>
                </a:p>
              </p:txBody>
            </p:sp>
          </p:grpSp>
        </p:grpSp>
        <p:grpSp>
          <p:nvGrpSpPr>
            <p:cNvPr id="92" name="Group 91"/>
            <p:cNvGrpSpPr/>
            <p:nvPr/>
          </p:nvGrpSpPr>
          <p:grpSpPr>
            <a:xfrm>
              <a:off x="575" y="4384"/>
              <a:ext cx="3110" cy="1642"/>
              <a:chOff x="575" y="4384"/>
              <a:chExt cx="3110" cy="1642"/>
            </a:xfrm>
          </p:grpSpPr>
          <p:sp>
            <p:nvSpPr>
              <p:cNvPr id="49" name="Rounded Rectangle 48"/>
              <p:cNvSpPr/>
              <p:nvPr/>
            </p:nvSpPr>
            <p:spPr>
              <a:xfrm>
                <a:off x="575" y="4384"/>
                <a:ext cx="3110" cy="1642"/>
              </a:xfrm>
              <a:prstGeom prst="roundRect">
                <a:avLst/>
              </a:prstGeom>
              <a:solidFill>
                <a:srgbClr val="172733"/>
              </a:solidFill>
              <a:ln w="13970">
                <a:solidFill>
                  <a:srgbClr val="F3C65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1152" y="4579"/>
                <a:ext cx="634" cy="634"/>
              </a:xfrm>
              <a:prstGeom prst="ellipse">
                <a:avLst/>
              </a:prstGeom>
              <a:solidFill>
                <a:srgbClr val="F3C65B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1152" y="4756"/>
                <a:ext cx="634" cy="2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950" b="1">
                    <a:solidFill>
                      <a:srgbClr val="0D1820"/>
                    </a:solidFill>
                    <a:latin typeface="PingFang SC" panose="020B0400000000000000" charset="-122"/>
                  </a:rPr>
                  <a:t>G</a:t>
                </a:r>
                <a:endParaRPr sz="950" b="1">
                  <a:solidFill>
                    <a:srgbClr val="0D1820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1958" y="4585"/>
                <a:ext cx="1334" cy="36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sz="1450" b="1">
                    <a:solidFill>
                      <a:srgbClr val="F5F8F7"/>
                    </a:solidFill>
                    <a:latin typeface="PingFang SC" panose="020B0400000000000000" charset="-122"/>
                  </a:rPr>
                  <a:t>Git</a:t>
                </a:r>
                <a:endParaRPr sz="1450" b="1">
                  <a:solidFill>
                    <a:srgbClr val="F5F8F7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1958" y="5098"/>
                <a:ext cx="1334" cy="46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Containerlab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トポロジーとテンプレート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</p:txBody>
          </p:sp>
        </p:grpSp>
        <p:grpSp>
          <p:nvGrpSpPr>
            <p:cNvPr id="100" name="Group 99"/>
            <p:cNvGrpSpPr/>
            <p:nvPr/>
          </p:nvGrpSpPr>
          <p:grpSpPr>
            <a:xfrm>
              <a:off x="5003" y="4320"/>
              <a:ext cx="3600" cy="1642"/>
              <a:chOff x="4493" y="4320"/>
              <a:chExt cx="3600" cy="1642"/>
            </a:xfrm>
          </p:grpSpPr>
          <p:sp>
            <p:nvSpPr>
              <p:cNvPr id="54" name="Rounded Rectangle 53"/>
              <p:cNvSpPr/>
              <p:nvPr/>
            </p:nvSpPr>
            <p:spPr>
              <a:xfrm>
                <a:off x="4493" y="4320"/>
                <a:ext cx="3600" cy="1642"/>
              </a:xfrm>
              <a:prstGeom prst="roundRect">
                <a:avLst/>
              </a:prstGeom>
              <a:solidFill>
                <a:srgbClr val="172733"/>
              </a:solidFill>
              <a:ln w="13970">
                <a:solidFill>
                  <a:srgbClr val="7FB5F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4752" y="4579"/>
                <a:ext cx="634" cy="634"/>
              </a:xfrm>
              <a:prstGeom prst="ellipse">
                <a:avLst/>
              </a:prstGeom>
              <a:solidFill>
                <a:srgbClr val="7FB5F5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4752" y="4756"/>
                <a:ext cx="634" cy="2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950" b="1">
                    <a:solidFill>
                      <a:srgbClr val="0D1820"/>
                    </a:solidFill>
                    <a:latin typeface="PingFang SC" panose="020B0400000000000000" charset="-122"/>
                  </a:rPr>
                  <a:t>N</a:t>
                </a:r>
                <a:endParaRPr sz="950" b="1">
                  <a:solidFill>
                    <a:srgbClr val="0D1820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5558" y="4585"/>
                <a:ext cx="2333" cy="36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sz="1450" b="1">
                    <a:solidFill>
                      <a:srgbClr val="F5F8F7"/>
                    </a:solidFill>
                    <a:latin typeface="PingFang SC" panose="020B0400000000000000" charset="-122"/>
                  </a:rPr>
                  <a:t>NetBox</a:t>
                </a:r>
                <a:endParaRPr sz="1450" b="1">
                  <a:solidFill>
                    <a:srgbClr val="F5F8F7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5558" y="5097"/>
                <a:ext cx="2333" cy="46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設計、IPAM、DCIM、メタデータ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</p:txBody>
          </p:sp>
        </p:grpSp>
        <p:grpSp>
          <p:nvGrpSpPr>
            <p:cNvPr id="96" name="Group 95"/>
            <p:cNvGrpSpPr/>
            <p:nvPr/>
          </p:nvGrpSpPr>
          <p:grpSpPr>
            <a:xfrm>
              <a:off x="9872" y="4370"/>
              <a:ext cx="3571" cy="1378"/>
              <a:chOff x="8554" y="4320"/>
              <a:chExt cx="3571" cy="1378"/>
            </a:xfrm>
          </p:grpSpPr>
          <p:sp>
            <p:nvSpPr>
              <p:cNvPr id="59" name="Rounded Rectangle 58"/>
              <p:cNvSpPr/>
              <p:nvPr/>
            </p:nvSpPr>
            <p:spPr>
              <a:xfrm>
                <a:off x="8554" y="4320"/>
                <a:ext cx="3571" cy="1378"/>
              </a:xfrm>
              <a:prstGeom prst="roundRect">
                <a:avLst/>
              </a:prstGeom>
              <a:solidFill>
                <a:srgbClr val="172733"/>
              </a:solidFill>
              <a:ln w="13970">
                <a:solidFill>
                  <a:srgbClr val="F29B5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Oval 59"/>
              <p:cNvSpPr/>
              <p:nvPr/>
            </p:nvSpPr>
            <p:spPr>
              <a:xfrm>
                <a:off x="8813" y="4579"/>
                <a:ext cx="634" cy="634"/>
              </a:xfrm>
              <a:prstGeom prst="ellipse">
                <a:avLst/>
              </a:prstGeom>
              <a:solidFill>
                <a:srgbClr val="F29B5D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TextBox 60"/>
              <p:cNvSpPr txBox="1"/>
              <p:nvPr/>
            </p:nvSpPr>
            <p:spPr>
              <a:xfrm>
                <a:off x="8813" y="4756"/>
                <a:ext cx="634" cy="2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950" b="1">
                    <a:solidFill>
                      <a:srgbClr val="0D1820"/>
                    </a:solidFill>
                    <a:latin typeface="PingFang SC" panose="020B0400000000000000" charset="-122"/>
                  </a:rPr>
                  <a:t>C</a:t>
                </a:r>
                <a:endParaRPr sz="950" b="1">
                  <a:solidFill>
                    <a:srgbClr val="0D1820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9619" y="4585"/>
                <a:ext cx="2305" cy="36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sz="1450" b="1">
                    <a:solidFill>
                      <a:srgbClr val="F5F8F7"/>
                    </a:solidFill>
                    <a:latin typeface="PingFang SC" panose="020B0400000000000000" charset="-122"/>
                  </a:rPr>
                  <a:t>Containerlab</a:t>
                </a:r>
                <a:endParaRPr sz="1450" b="1">
                  <a:solidFill>
                    <a:srgbClr val="F5F8F7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9619" y="5097"/>
                <a:ext cx="2305" cy="23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再現可能なネットワークラボをデプロイ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</p:txBody>
          </p:sp>
        </p:grpSp>
        <p:grpSp>
          <p:nvGrpSpPr>
            <p:cNvPr id="94" name="Group 93"/>
            <p:cNvGrpSpPr/>
            <p:nvPr/>
          </p:nvGrpSpPr>
          <p:grpSpPr>
            <a:xfrm>
              <a:off x="15205" y="4206"/>
              <a:ext cx="3601" cy="1642"/>
              <a:chOff x="12557" y="4320"/>
              <a:chExt cx="3743" cy="1642"/>
            </a:xfrm>
          </p:grpSpPr>
          <p:sp>
            <p:nvSpPr>
              <p:cNvPr id="64" name="Rounded Rectangle 63"/>
              <p:cNvSpPr/>
              <p:nvPr/>
            </p:nvSpPr>
            <p:spPr>
              <a:xfrm>
                <a:off x="12557" y="4320"/>
                <a:ext cx="3341" cy="1642"/>
              </a:xfrm>
              <a:prstGeom prst="roundRect">
                <a:avLst/>
              </a:prstGeom>
              <a:solidFill>
                <a:srgbClr val="172733"/>
              </a:solidFill>
              <a:ln w="13970">
                <a:solidFill>
                  <a:srgbClr val="F29B5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12816" y="4579"/>
                <a:ext cx="634" cy="634"/>
              </a:xfrm>
              <a:prstGeom prst="ellipse">
                <a:avLst/>
              </a:prstGeom>
              <a:solidFill>
                <a:srgbClr val="F29B5D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TextBox 65"/>
              <p:cNvSpPr txBox="1"/>
              <p:nvPr/>
            </p:nvSpPr>
            <p:spPr>
              <a:xfrm>
                <a:off x="12816" y="4755"/>
                <a:ext cx="634" cy="2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950" b="1">
                    <a:solidFill>
                      <a:srgbClr val="0D1820"/>
                    </a:solidFill>
                    <a:latin typeface="PingFang SC" panose="020B0400000000000000" charset="-122"/>
                  </a:rPr>
                  <a:t>R</a:t>
                </a:r>
                <a:endParaRPr sz="950" b="1">
                  <a:solidFill>
                    <a:srgbClr val="0D1820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67" name="TextBox 66"/>
              <p:cNvSpPr txBox="1"/>
              <p:nvPr/>
            </p:nvSpPr>
            <p:spPr>
              <a:xfrm>
                <a:off x="13622" y="4586"/>
                <a:ext cx="2678" cy="36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sz="1450" b="1">
                    <a:solidFill>
                      <a:srgbClr val="F5F8F7"/>
                    </a:solidFill>
                    <a:latin typeface="PingFang SC" panose="020B0400000000000000" charset="-122"/>
                  </a:rPr>
                  <a:t>実行状態</a:t>
                </a:r>
                <a:endParaRPr sz="1450" b="1">
                  <a:solidFill>
                    <a:srgbClr val="F5F8F7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13622" y="5098"/>
                <a:ext cx="2678" cy="46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inspect JSON / 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topology-data.json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</p:txBody>
          </p:sp>
        </p:grpSp>
        <p:grpSp>
          <p:nvGrpSpPr>
            <p:cNvPr id="20" name="Group 19"/>
            <p:cNvGrpSpPr/>
            <p:nvPr/>
          </p:nvGrpSpPr>
          <p:grpSpPr>
            <a:xfrm>
              <a:off x="3292" y="7706"/>
              <a:ext cx="3600" cy="1469"/>
              <a:chOff x="4493" y="7229"/>
              <a:chExt cx="3600" cy="1469"/>
            </a:xfrm>
          </p:grpSpPr>
          <p:sp>
            <p:nvSpPr>
              <p:cNvPr id="69" name="Rounded Rectangle 68"/>
              <p:cNvSpPr/>
              <p:nvPr/>
            </p:nvSpPr>
            <p:spPr>
              <a:xfrm>
                <a:off x="4493" y="7229"/>
                <a:ext cx="3600" cy="1469"/>
              </a:xfrm>
              <a:prstGeom prst="roundRect">
                <a:avLst/>
              </a:prstGeom>
              <a:solidFill>
                <a:srgbClr val="172733"/>
              </a:solidFill>
              <a:ln w="13970">
                <a:solidFill>
                  <a:srgbClr val="B9A8E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4752" y="7488"/>
                <a:ext cx="634" cy="634"/>
              </a:xfrm>
              <a:prstGeom prst="ellipse">
                <a:avLst/>
              </a:prstGeom>
              <a:solidFill>
                <a:srgbClr val="B9A8E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1" name="TextBox 70"/>
              <p:cNvSpPr txBox="1"/>
              <p:nvPr/>
            </p:nvSpPr>
            <p:spPr>
              <a:xfrm>
                <a:off x="4752" y="7665"/>
                <a:ext cx="634" cy="2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950" b="1">
                    <a:solidFill>
                      <a:srgbClr val="0D1820"/>
                    </a:solidFill>
                    <a:latin typeface="PingFang SC" panose="020B0400000000000000" charset="-122"/>
                  </a:rPr>
                  <a:t>B</a:t>
                </a:r>
                <a:endParaRPr sz="950" b="1">
                  <a:solidFill>
                    <a:srgbClr val="0D1820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5558" y="7507"/>
                <a:ext cx="2333" cy="3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sz="1350" b="1">
                    <a:solidFill>
                      <a:srgbClr val="F5F8F7"/>
                    </a:solidFill>
                    <a:latin typeface="PingFang SC" panose="020B0400000000000000" charset="-122"/>
                  </a:rPr>
                  <a:t>NetBrain</a:t>
                </a:r>
                <a:endParaRPr sz="1350" b="1">
                  <a:solidFill>
                    <a:srgbClr val="F5F8F7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5558" y="8007"/>
                <a:ext cx="2333" cy="23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リアルタイム検出、マッピング、診断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</p:txBody>
          </p:sp>
        </p:grpSp>
        <p:grpSp>
          <p:nvGrpSpPr>
            <p:cNvPr id="105" name="Group 104"/>
            <p:cNvGrpSpPr/>
            <p:nvPr/>
          </p:nvGrpSpPr>
          <p:grpSpPr>
            <a:xfrm>
              <a:off x="8554" y="7669"/>
              <a:ext cx="3571" cy="1469"/>
              <a:chOff x="8554" y="7229"/>
              <a:chExt cx="3571" cy="1469"/>
            </a:xfrm>
          </p:grpSpPr>
          <p:sp>
            <p:nvSpPr>
              <p:cNvPr id="74" name="Rounded Rectangle 73"/>
              <p:cNvSpPr/>
              <p:nvPr/>
            </p:nvSpPr>
            <p:spPr>
              <a:xfrm>
                <a:off x="8554" y="7229"/>
                <a:ext cx="3571" cy="1469"/>
              </a:xfrm>
              <a:prstGeom prst="roundRect">
                <a:avLst/>
              </a:prstGeom>
              <a:solidFill>
                <a:srgbClr val="172733"/>
              </a:solidFill>
              <a:ln w="13970">
                <a:solidFill>
                  <a:srgbClr val="EE897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Oval 74"/>
              <p:cNvSpPr/>
              <p:nvPr/>
            </p:nvSpPr>
            <p:spPr>
              <a:xfrm>
                <a:off x="8813" y="7488"/>
                <a:ext cx="634" cy="634"/>
              </a:xfrm>
              <a:prstGeom prst="ellipse">
                <a:avLst/>
              </a:prstGeom>
              <a:solidFill>
                <a:srgbClr val="EE8978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TextBox 75"/>
              <p:cNvSpPr txBox="1"/>
              <p:nvPr/>
            </p:nvSpPr>
            <p:spPr>
              <a:xfrm>
                <a:off x="8813" y="7665"/>
                <a:ext cx="634" cy="2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950" b="1">
                    <a:solidFill>
                      <a:srgbClr val="0D1820"/>
                    </a:solidFill>
                    <a:latin typeface="PingFang SC" panose="020B0400000000000000" charset="-122"/>
                  </a:rPr>
                  <a:t>T</a:t>
                </a:r>
                <a:endParaRPr sz="950" b="1">
                  <a:solidFill>
                    <a:srgbClr val="0D1820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77" name="TextBox 76"/>
              <p:cNvSpPr txBox="1"/>
              <p:nvPr/>
            </p:nvSpPr>
            <p:spPr>
              <a:xfrm>
                <a:off x="9619" y="7507"/>
                <a:ext cx="2305" cy="3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sz="1350" b="1">
                    <a:solidFill>
                      <a:srgbClr val="F5F8F7"/>
                    </a:solidFill>
                    <a:latin typeface="PingFang SC" panose="020B0400000000000000" charset="-122"/>
                  </a:rPr>
                  <a:t>Tenable</a:t>
                </a:r>
                <a:endParaRPr sz="1350" b="1">
                  <a:solidFill>
                    <a:srgbClr val="F5F8F7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78" name="TextBox 77"/>
              <p:cNvSpPr txBox="1"/>
              <p:nvPr/>
            </p:nvSpPr>
            <p:spPr>
              <a:xfrm>
                <a:off x="9619" y="8007"/>
                <a:ext cx="2305" cy="23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脆弱性、コンプライアンス、エクスポージャー管理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</p:txBody>
          </p:sp>
        </p:grpSp>
        <p:grpSp>
          <p:nvGrpSpPr>
            <p:cNvPr id="93" name="Group 92"/>
            <p:cNvGrpSpPr/>
            <p:nvPr/>
          </p:nvGrpSpPr>
          <p:grpSpPr>
            <a:xfrm>
              <a:off x="14515" y="7652"/>
              <a:ext cx="3746" cy="1469"/>
              <a:chOff x="12557" y="7229"/>
              <a:chExt cx="3746" cy="1469"/>
            </a:xfrm>
          </p:grpSpPr>
          <p:sp>
            <p:nvSpPr>
              <p:cNvPr id="79" name="Rounded Rectangle 78"/>
              <p:cNvSpPr/>
              <p:nvPr/>
            </p:nvSpPr>
            <p:spPr>
              <a:xfrm>
                <a:off x="12557" y="7229"/>
                <a:ext cx="3490" cy="1469"/>
              </a:xfrm>
              <a:prstGeom prst="roundRect">
                <a:avLst/>
              </a:prstGeom>
              <a:solidFill>
                <a:srgbClr val="172733"/>
              </a:solidFill>
              <a:ln w="13970">
                <a:solidFill>
                  <a:srgbClr val="9AD7B7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Oval 79"/>
              <p:cNvSpPr/>
              <p:nvPr/>
            </p:nvSpPr>
            <p:spPr>
              <a:xfrm>
                <a:off x="12816" y="7488"/>
                <a:ext cx="634" cy="634"/>
              </a:xfrm>
              <a:prstGeom prst="ellipse">
                <a:avLst/>
              </a:prstGeom>
              <a:solidFill>
                <a:srgbClr val="9AD7B7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TextBox 80"/>
              <p:cNvSpPr txBox="1"/>
              <p:nvPr/>
            </p:nvSpPr>
            <p:spPr>
              <a:xfrm>
                <a:off x="12816" y="7665"/>
                <a:ext cx="634" cy="2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950" b="1">
                    <a:solidFill>
                      <a:srgbClr val="0D1820"/>
                    </a:solidFill>
                    <a:latin typeface="PingFang SC" panose="020B0400000000000000" charset="-122"/>
                  </a:rPr>
                  <a:t>I</a:t>
                </a:r>
                <a:endParaRPr sz="950" b="1">
                  <a:solidFill>
                    <a:srgbClr val="0D1820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13623" y="7507"/>
                <a:ext cx="2679" cy="3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sz="1350" b="1">
                    <a:solidFill>
                      <a:srgbClr val="F5F8F7"/>
                    </a:solidFill>
                    <a:latin typeface="PingFang SC" panose="020B0400000000000000" charset="-122"/>
                  </a:rPr>
                  <a:t>ITSM / チケット</a:t>
                </a:r>
                <a:endParaRPr sz="1350" b="1">
                  <a:solidFill>
                    <a:srgbClr val="F5F8F7"/>
                  </a:solidFill>
                  <a:latin typeface="PingFang SC" panose="020B0400000000000000" charset="-122"/>
                </a:endParaRPr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13623" y="8007"/>
                <a:ext cx="2680" cy="23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30" b="0">
                    <a:solidFill>
                      <a:srgbClr val="A9BBC1"/>
                    </a:solidFill>
                    <a:latin typeface="PingFang SC" panose="020B0400000000000000" charset="-122"/>
                  </a:rPr>
                  <a:t>修正フローと変更承認</a:t>
                </a:r>
                <a:endParaRPr sz="930" b="0">
                  <a:solidFill>
                    <a:srgbClr val="A9BBC1"/>
                  </a:solidFill>
                  <a:latin typeface="PingFang SC" panose="020B0400000000000000" charset="-122"/>
                </a:endParaRPr>
              </a:p>
            </p:txBody>
          </p:sp>
        </p:grpSp>
        <p:grpSp>
          <p:nvGrpSpPr>
            <p:cNvPr id="103" name="Group 102"/>
            <p:cNvGrpSpPr/>
            <p:nvPr/>
          </p:nvGrpSpPr>
          <p:grpSpPr>
            <a:xfrm>
              <a:off x="6323" y="2338"/>
              <a:ext cx="6588" cy="1979"/>
              <a:chOff x="6323" y="2338"/>
              <a:chExt cx="6588" cy="1979"/>
            </a:xfrm>
          </p:grpSpPr>
          <p:cxnSp>
            <p:nvCxnSpPr>
              <p:cNvPr id="12" name="Connector 11"/>
              <p:cNvCxnSpPr/>
              <p:nvPr/>
            </p:nvCxnSpPr>
            <p:spPr>
              <a:xfrm>
                <a:off x="6323" y="3257"/>
                <a:ext cx="0" cy="1061"/>
              </a:xfrm>
              <a:prstGeom prst="line">
                <a:avLst/>
              </a:prstGeom>
              <a:ln w="20320">
                <a:solidFill>
                  <a:srgbClr val="5DD6C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Connector 14"/>
              <p:cNvCxnSpPr/>
              <p:nvPr/>
            </p:nvCxnSpPr>
            <p:spPr>
              <a:xfrm flipV="1">
                <a:off x="12911" y="2338"/>
                <a:ext cx="0" cy="919"/>
              </a:xfrm>
              <a:prstGeom prst="line">
                <a:avLst/>
              </a:prstGeom>
              <a:ln w="20320">
                <a:solidFill>
                  <a:srgbClr val="5DD6C1"/>
                </a:solidFill>
                <a:headEnd type="none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nector 25"/>
              <p:cNvCxnSpPr/>
              <p:nvPr/>
            </p:nvCxnSpPr>
            <p:spPr>
              <a:xfrm flipH="1">
                <a:off x="6325" y="3267"/>
                <a:ext cx="6586" cy="0"/>
              </a:xfrm>
              <a:prstGeom prst="line">
                <a:avLst/>
              </a:prstGeom>
              <a:ln w="20320">
                <a:solidFill>
                  <a:srgbClr val="5DD6C1"/>
                </a:solidFill>
                <a:headEnd type="none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0" name="Group 109"/>
            <p:cNvGrpSpPr/>
            <p:nvPr/>
          </p:nvGrpSpPr>
          <p:grpSpPr>
            <a:xfrm>
              <a:off x="5998" y="9121"/>
              <a:ext cx="10519" cy="758"/>
              <a:chOff x="5998" y="9121"/>
              <a:chExt cx="10519" cy="758"/>
            </a:xfrm>
          </p:grpSpPr>
          <p:cxnSp>
            <p:nvCxnSpPr>
              <p:cNvPr id="107" name="Connector 14"/>
              <p:cNvCxnSpPr/>
              <p:nvPr/>
            </p:nvCxnSpPr>
            <p:spPr>
              <a:xfrm flipV="1">
                <a:off x="5998" y="9175"/>
                <a:ext cx="0" cy="703"/>
              </a:xfrm>
              <a:prstGeom prst="line">
                <a:avLst/>
              </a:prstGeom>
              <a:solidFill>
                <a:srgbClr val="172733"/>
              </a:solidFill>
              <a:ln w="13970">
                <a:solidFill>
                  <a:srgbClr val="B9A8E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8" name="Connector 25"/>
              <p:cNvCxnSpPr/>
              <p:nvPr/>
            </p:nvCxnSpPr>
            <p:spPr>
              <a:xfrm flipH="1">
                <a:off x="5998" y="9878"/>
                <a:ext cx="10519" cy="0"/>
              </a:xfrm>
              <a:prstGeom prst="line">
                <a:avLst/>
              </a:prstGeom>
              <a:solidFill>
                <a:srgbClr val="172733"/>
              </a:solidFill>
              <a:ln w="13970">
                <a:solidFill>
                  <a:srgbClr val="B9A8E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Connector 14"/>
              <p:cNvCxnSpPr/>
              <p:nvPr/>
            </p:nvCxnSpPr>
            <p:spPr>
              <a:xfrm flipV="1">
                <a:off x="16517" y="9121"/>
                <a:ext cx="0" cy="758"/>
              </a:xfrm>
              <a:prstGeom prst="line">
                <a:avLst/>
              </a:prstGeom>
              <a:solidFill>
                <a:srgbClr val="172733"/>
              </a:solidFill>
              <a:ln w="13970">
                <a:solidFill>
                  <a:srgbClr val="B9A8EA"/>
                </a:solidFill>
                <a:headEnd type="none"/>
                <a:tailEnd type="triangle" w="med" len="med"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14" name="Group 113"/>
            <p:cNvGrpSpPr/>
            <p:nvPr/>
          </p:nvGrpSpPr>
          <p:grpSpPr>
            <a:xfrm>
              <a:off x="8583" y="5126"/>
              <a:ext cx="609" cy="2542"/>
              <a:chOff x="8583" y="5126"/>
              <a:chExt cx="609" cy="2542"/>
            </a:xfrm>
          </p:grpSpPr>
          <p:cxnSp>
            <p:nvCxnSpPr>
              <p:cNvPr id="111" name="Connector 17"/>
              <p:cNvCxnSpPr/>
              <p:nvPr/>
            </p:nvCxnSpPr>
            <p:spPr>
              <a:xfrm>
                <a:off x="8583" y="5126"/>
                <a:ext cx="609" cy="0"/>
              </a:xfrm>
              <a:prstGeom prst="line">
                <a:avLst/>
              </a:prstGeom>
              <a:ln w="14604">
                <a:solidFill>
                  <a:srgbClr val="7FB5F5"/>
                </a:solidFill>
                <a:headEnd type="none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nector 28"/>
              <p:cNvCxnSpPr/>
              <p:nvPr/>
            </p:nvCxnSpPr>
            <p:spPr>
              <a:xfrm>
                <a:off x="9192" y="5126"/>
                <a:ext cx="0" cy="2543"/>
              </a:xfrm>
              <a:prstGeom prst="line">
                <a:avLst/>
              </a:prstGeom>
              <a:ln w="17145">
                <a:solidFill>
                  <a:srgbClr val="7FB5F5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3" name="Connector 17"/>
            <p:cNvCxnSpPr/>
            <p:nvPr/>
          </p:nvCxnSpPr>
          <p:spPr>
            <a:xfrm>
              <a:off x="7955" y="8357"/>
              <a:ext cx="609" cy="0"/>
            </a:xfrm>
            <a:prstGeom prst="line">
              <a:avLst/>
            </a:prstGeom>
            <a:ln w="14604">
              <a:solidFill>
                <a:srgbClr val="EE8978"/>
              </a:solidFill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ctor 28"/>
            <p:cNvCxnSpPr/>
            <p:nvPr/>
          </p:nvCxnSpPr>
          <p:spPr>
            <a:xfrm>
              <a:off x="7965" y="5962"/>
              <a:ext cx="0" cy="2395"/>
            </a:xfrm>
            <a:prstGeom prst="line">
              <a:avLst/>
            </a:prstGeom>
            <a:ln w="14604">
              <a:solidFill>
                <a:srgbClr val="EE8978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467</Words>
  <Application>WPS Docs</Application>
  <PresentationFormat>On-screen Show (4:3)</PresentationFormat>
  <Paragraphs>83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SimSun</vt:lpstr>
      <vt:lpstr>Wingdings</vt:lpstr>
      <vt:lpstr>Arial</vt:lpstr>
      <vt:lpstr>PingFang SC</vt:lpstr>
      <vt:lpstr>Calibri</vt:lpstr>
      <vt:lpstr>Helvetica Neue</vt:lpstr>
      <vt:lpstr>汉仪书宋二KW</vt:lpstr>
      <vt:lpstr>MS PGothic</vt:lpstr>
      <vt:lpstr>Arial Unicode MS</vt:lpstr>
      <vt:lpstr>SimSun</vt:lpstr>
      <vt:lpstr>Microsoft YaHei</vt:lpstr>
      <vt:lpstr>汉仪旗黑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BarryXue</cp:lastModifiedBy>
  <cp:revision>23</cp:revision>
  <dcterms:created xsi:type="dcterms:W3CDTF">2026-09-16T09:25:03Z</dcterms:created>
  <dcterms:modified xsi:type="dcterms:W3CDTF">2026-09-16T09:25:03Z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C37FC22A7ECC18395052AA6A4E3454BF_42</vt:lpwstr>
  </property>
  <property fmtid="{D5CDD505-2E9C-101B-9397-08002B2CF9AE}" pid="3" name="KSOProductBuildVer">
    <vt:lpwstr>1033-12.1.28492.28492</vt:lpwstr>
  </property>
</Properties>
</file>